
<file path=[Content_Types].xml><?xml version="1.0" encoding="utf-8"?>
<Types xmlns="http://schemas.openxmlformats.org/package/2006/content-types">
  <Default Extension="xml" ContentType="application/xml"/>
  <Default Extension="png" ContentType="image/png"/>
  <Default Extension="jpeg" ContentType="image/jpeg"/>
  <Default Extension="JPG" ContentType="image/.jpg"/>
  <Default Extension="rels" ContentType="application/vnd.openxmlformats-package.relationship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648" r:id="rId1"/>
  </p:sldMasterIdLst>
  <p:notesMasterIdLst>
    <p:notesMasterId r:id="rId4"/>
  </p:notesMasterIdLst>
  <p:sldIdLst>
    <p:sldId id="257" r:id="rId3"/>
    <p:sldId id="258" r:id="rId5"/>
    <p:sldId id="259" r:id="rId6"/>
    <p:sldId id="261" r:id="rId7"/>
    <p:sldId id="262" r:id="rId8"/>
    <p:sldId id="260" r:id="rId9"/>
    <p:sldId id="263" r:id="rId10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1" charset="-128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6614AF4C-B220-41D1-A985-7D2520ACEF84}">
          <p14:sldIdLst>
            <p14:sldId id="257"/>
            <p14:sldId id="258"/>
            <p14:sldId id="259"/>
          </p14:sldIdLst>
        </p14:section>
        <p14:section name="Untitled Section" id="{43B47C63-FE75-4B83-B0F8-D851E9343C9D}">
          <p14:sldIdLst>
            <p14:sldId id="261"/>
            <p14:sldId id="262"/>
            <p14:sldId id="260"/>
            <p14:sldId id="26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48" d="100"/>
          <a:sy n="48" d="100"/>
        </p:scale>
        <p:origin x="53" y="845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customXml" Target="../customXml/item3.xml"/><Relationship Id="rId15" Type="http://schemas.openxmlformats.org/officeDocument/2006/relationships/customXml" Target="../customXml/item2.xml"/><Relationship Id="rId14" Type="http://schemas.openxmlformats.org/officeDocument/2006/relationships/customXml" Target="../customXml/item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00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endParaRPr lang="en-US"/>
          </a:p>
        </p:txBody>
      </p:sp>
      <p:sp>
        <p:nvSpPr>
          <p:cNvPr id="1048701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</a:fld>
            <a:endParaRPr lang="en-US"/>
          </a:p>
        </p:txBody>
      </p:sp>
      <p:sp>
        <p:nvSpPr>
          <p:cNvPr id="1048702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1048703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  <a:endParaRPr lang="en-US" noProof="0"/>
          </a:p>
          <a:p>
            <a:pPr lvl="1"/>
            <a:r>
              <a:rPr lang="en-US" noProof="0"/>
              <a:t>Second level</a:t>
            </a:r>
            <a:endParaRPr lang="en-US" noProof="0"/>
          </a:p>
          <a:p>
            <a:pPr lvl="2"/>
            <a:r>
              <a:rPr lang="en-US" noProof="0"/>
              <a:t>Third level</a:t>
            </a:r>
            <a:endParaRPr lang="en-US" noProof="0"/>
          </a:p>
          <a:p>
            <a:pPr lvl="3"/>
            <a:r>
              <a:rPr lang="en-US" noProof="0"/>
              <a:t>Fourth level</a:t>
            </a:r>
            <a:endParaRPr lang="en-US" noProof="0"/>
          </a:p>
          <a:p>
            <a:pPr lvl="4"/>
            <a:r>
              <a:rPr lang="en-US" noProof="0"/>
              <a:t>Fifth level</a:t>
            </a:r>
            <a:endParaRPr lang="en-US" noProof="0"/>
          </a:p>
        </p:txBody>
      </p:sp>
      <p:sp>
        <p:nvSpPr>
          <p:cNvPr id="1048704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endParaRPr lang="en-US"/>
          </a:p>
        </p:txBody>
      </p:sp>
      <p:sp>
        <p:nvSpPr>
          <p:cNvPr id="1048705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1" charset="-128"/>
        <a:cs typeface="MS PGothic" panose="020B0600070205080204" pitchFamily="1" charset="-128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1" charset="-128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1" charset="-128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1" charset="-128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1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790738-CFC9-4A5E-8424-6B42AA5706F7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104860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en-US">
              <a:ea typeface="MS PGothic" panose="020B0600070205080204" pitchFamily="1" charset="-128"/>
            </a:endParaRPr>
          </a:p>
        </p:txBody>
      </p:sp>
      <p:sp>
        <p:nvSpPr>
          <p:cNvPr id="104860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fld id="{65F62A7E-A2F8-438F-9CF8-47DE63F471B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2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1048613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en-US">
              <a:ea typeface="MS PGothic" panose="020B0600070205080204" pitchFamily="1" charset="-128"/>
            </a:endParaRPr>
          </a:p>
        </p:txBody>
      </p:sp>
      <p:sp>
        <p:nvSpPr>
          <p:cNvPr id="104861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fld id="{0CA7B74D-3791-4AC6-8451-F10DBCCCDD9A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0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1048631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en-US">
              <a:ea typeface="MS PGothic" panose="020B0600070205080204" pitchFamily="1" charset="-128"/>
            </a:endParaRPr>
          </a:p>
        </p:txBody>
      </p:sp>
      <p:sp>
        <p:nvSpPr>
          <p:cNvPr id="104863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MS PGothic" panose="020B0600070205080204" pitchFamily="1" charset="-128"/>
                <a:cs typeface="+mn-cs"/>
              </a:rPr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MS PGothic" panose="020B0600070205080204" pitchFamily="1" charset="-128"/>
              <a:cs typeface="+mn-cs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9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1048640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en-US">
              <a:ea typeface="MS PGothic" panose="020B0600070205080204" pitchFamily="1" charset="-128"/>
            </a:endParaRPr>
          </a:p>
        </p:txBody>
      </p:sp>
      <p:sp>
        <p:nvSpPr>
          <p:cNvPr id="1048641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MS PGothic" panose="020B0600070205080204" pitchFamily="1" charset="-128"/>
                <a:cs typeface="+mn-cs"/>
              </a:rPr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MS PGothic" panose="020B0600070205080204" pitchFamily="1" charset="-128"/>
              <a:cs typeface="+mn-cs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1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1048622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en-US">
              <a:ea typeface="MS PGothic" panose="020B0600070205080204" pitchFamily="1" charset="-128"/>
            </a:endParaRPr>
          </a:p>
        </p:txBody>
      </p:sp>
      <p:sp>
        <p:nvSpPr>
          <p:cNvPr id="1048623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MS PGothic" panose="020B0600070205080204" pitchFamily="1" charset="-128"/>
                <a:cs typeface="+mn-cs"/>
              </a:rPr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MS PGothic" panose="020B0600070205080204" pitchFamily="1" charset="-128"/>
              <a:cs typeface="+mn-cs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9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1048650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en-US">
              <a:ea typeface="MS PGothic" panose="020B0600070205080204" pitchFamily="1" charset="-128"/>
            </a:endParaRPr>
          </a:p>
        </p:txBody>
      </p:sp>
      <p:sp>
        <p:nvSpPr>
          <p:cNvPr id="1048651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MS PGothic" panose="020B0600070205080204" pitchFamily="1" charset="-128"/>
                <a:cs typeface="+mn-cs"/>
              </a:rPr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MS PGothic" panose="020B0600070205080204" pitchFamily="1" charset="-128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1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048582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104858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0792E3-D524-454C-8AFD-A91972900BCB}" type="datetime1">
              <a:rPr lang="en-US" smtClean="0"/>
            </a:fld>
            <a:endParaRPr lang="en-US"/>
          </a:p>
        </p:txBody>
      </p:sp>
      <p:sp>
        <p:nvSpPr>
          <p:cNvPr id="104858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@SIH Idea submission- Template</a:t>
            </a:r>
            <a:endParaRPr lang="en-US"/>
          </a:p>
        </p:txBody>
      </p:sp>
      <p:sp>
        <p:nvSpPr>
          <p:cNvPr id="104858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7E1BAA-A38D-40DE-B22C-DF9BD7D82058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04859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104859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8B7524-32A2-4C20-A58C-BC3BAA1042FC}" type="datetime1">
              <a:rPr lang="en-US" smtClean="0"/>
            </a:fld>
            <a:endParaRPr lang="en-US"/>
          </a:p>
        </p:txBody>
      </p:sp>
      <p:sp>
        <p:nvSpPr>
          <p:cNvPr id="104859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@SIH Idea submission- Template</a:t>
            </a:r>
            <a:endParaRPr lang="en-US"/>
          </a:p>
        </p:txBody>
      </p:sp>
      <p:sp>
        <p:nvSpPr>
          <p:cNvPr id="104859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04867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104867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994447-D6B2-43BB-A877-57F1A267B999}" type="datetime1">
              <a:rPr lang="en-US" smtClean="0"/>
            </a:fld>
            <a:endParaRPr lang="en-US"/>
          </a:p>
        </p:txBody>
      </p:sp>
      <p:sp>
        <p:nvSpPr>
          <p:cNvPr id="104867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@SIH Idea submission- Template</a:t>
            </a:r>
            <a:endParaRPr lang="en-US"/>
          </a:p>
        </p:txBody>
      </p:sp>
      <p:sp>
        <p:nvSpPr>
          <p:cNvPr id="104867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B31D2-2A87-4F4C-A9AD-05C6CC2B321D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7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048678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1048679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1048680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20E16-BD35-483C-AA6B-346FC7E46DEA}" type="datetime1">
              <a:rPr lang="en-US" smtClean="0"/>
            </a:fld>
            <a:endParaRPr lang="en-US"/>
          </a:p>
        </p:txBody>
      </p:sp>
      <p:sp>
        <p:nvSpPr>
          <p:cNvPr id="1048681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@SIH Idea submission- Template</a:t>
            </a:r>
            <a:endParaRPr lang="en-US"/>
          </a:p>
        </p:txBody>
      </p:sp>
      <p:sp>
        <p:nvSpPr>
          <p:cNvPr id="1048682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C16D9-1635-4844-816A-0A8A2160FADA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048684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1048685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1048686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1048687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1048688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EAC6F8-5103-4FC0-A69E-5C6AE6469DA8}" type="datetime1">
              <a:rPr lang="en-US" smtClean="0"/>
            </a:fld>
            <a:endParaRPr lang="en-US"/>
          </a:p>
        </p:txBody>
      </p:sp>
      <p:sp>
        <p:nvSpPr>
          <p:cNvPr id="1048689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@SIH Idea submission- Template</a:t>
            </a:r>
            <a:endParaRPr lang="en-US"/>
          </a:p>
        </p:txBody>
      </p:sp>
      <p:sp>
        <p:nvSpPr>
          <p:cNvPr id="104869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C4100A-98DE-4944-910A-A93F5CA9F72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04865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0C6921-0627-4C8F-83D5-0CF936D2FFDD}" type="datetime1">
              <a:rPr lang="en-US" smtClean="0"/>
            </a:fld>
            <a:endParaRPr lang="en-US"/>
          </a:p>
        </p:txBody>
      </p:sp>
      <p:sp>
        <p:nvSpPr>
          <p:cNvPr id="104865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@SIH Idea submission- Template</a:t>
            </a:r>
            <a:endParaRPr lang="en-US"/>
          </a:p>
        </p:txBody>
      </p:sp>
      <p:sp>
        <p:nvSpPr>
          <p:cNvPr id="104865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63342B-5A73-45DC-864D-086DE78037EF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1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F08AD7-8103-40F8-983C-E2BA6BB9CBE0}" type="datetime1">
              <a:rPr lang="en-US" smtClean="0"/>
            </a:fld>
            <a:endParaRPr lang="en-US"/>
          </a:p>
        </p:txBody>
      </p:sp>
      <p:sp>
        <p:nvSpPr>
          <p:cNvPr id="1048692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@SIH Idea submission- Template</a:t>
            </a:r>
            <a:endParaRPr lang="en-US"/>
          </a:p>
        </p:txBody>
      </p:sp>
      <p:sp>
        <p:nvSpPr>
          <p:cNvPr id="1048693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35AFB3-1ACD-44AC-8702-86B1729DF035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4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048695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1048696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104869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C06B4-9380-4A4D-AF49-A3596E17DAF5}" type="datetime1">
              <a:rPr lang="en-US" smtClean="0"/>
            </a:fld>
            <a:endParaRPr lang="en-US"/>
          </a:p>
        </p:txBody>
      </p:sp>
      <p:sp>
        <p:nvSpPr>
          <p:cNvPr id="104869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@SIH Idea submission- Template</a:t>
            </a:r>
            <a:endParaRPr lang="en-US"/>
          </a:p>
        </p:txBody>
      </p:sp>
      <p:sp>
        <p:nvSpPr>
          <p:cNvPr id="104869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CF15F3-5E77-4C57-9E21-50D6D1D6C022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1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048662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1048663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104866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7FDEF1-C582-4E22-9E77-D68326471F28}" type="datetime1">
              <a:rPr lang="en-US" smtClean="0"/>
            </a:fld>
            <a:endParaRPr lang="en-US"/>
          </a:p>
        </p:txBody>
      </p:sp>
      <p:sp>
        <p:nvSpPr>
          <p:cNvPr id="104866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@SIH Idea submission- Template</a:t>
            </a:r>
            <a:endParaRPr lang="en-US"/>
          </a:p>
        </p:txBody>
      </p:sp>
      <p:sp>
        <p:nvSpPr>
          <p:cNvPr id="104866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42169A-B3C7-4FB6-967F-AF95F4EB3315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7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048668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1048669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3C3A68-6922-42D3-8905-ECC2D82A3469}" type="datetime1">
              <a:rPr lang="en-US" smtClean="0"/>
            </a:fld>
            <a:endParaRPr lang="en-US"/>
          </a:p>
        </p:txBody>
      </p:sp>
      <p:sp>
        <p:nvSpPr>
          <p:cNvPr id="1048670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@SIH Idea submission- Template</a:t>
            </a:r>
            <a:endParaRPr lang="en-US"/>
          </a:p>
        </p:txBody>
      </p:sp>
      <p:sp>
        <p:nvSpPr>
          <p:cNvPr id="1048671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DD027-5576-4F27-AAB6-1D994836EE78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6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048657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1048658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69E9F4-7604-4950-A8B2-8ACDEDB1506E}" type="datetime1">
              <a:rPr lang="en-US" smtClean="0"/>
            </a:fld>
            <a:endParaRPr lang="en-US"/>
          </a:p>
        </p:txBody>
      </p:sp>
      <p:sp>
        <p:nvSpPr>
          <p:cNvPr id="1048659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@SIH Idea submission- Template</a:t>
            </a:r>
            <a:endParaRPr lang="en-US"/>
          </a:p>
        </p:txBody>
      </p:sp>
      <p:sp>
        <p:nvSpPr>
          <p:cNvPr id="104866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57CE61-8714-431B-A40A-01B1C5541AB7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04857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1048578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</a:fld>
            <a:endParaRPr lang="en-US"/>
          </a:p>
        </p:txBody>
      </p:sp>
      <p:sp>
        <p:nvSpPr>
          <p:cNvPr id="104857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r>
              <a:rPr lang="en-US"/>
              <a:t>@SIH Idea submission- Template</a:t>
            </a:r>
            <a:endParaRPr lang="en-US"/>
          </a:p>
        </p:txBody>
      </p:sp>
      <p:sp>
        <p:nvSpPr>
          <p:cNvPr id="104858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MS PGothic" panose="020B0600070205080204" pitchFamily="1" charset="-128"/>
          <a:cs typeface="MS PGothic" panose="020B0600070205080204" pitchFamily="1" charset="-128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pitchFamily="1" charset="0"/>
          <a:ea typeface="MS PGothic" panose="020B0600070205080204" pitchFamily="1" charset="-128"/>
          <a:cs typeface="MS PGothic" panose="020B0600070205080204" pitchFamily="1" charset="-128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pitchFamily="1" charset="0"/>
          <a:ea typeface="MS PGothic" panose="020B0600070205080204" pitchFamily="1" charset="-128"/>
          <a:cs typeface="MS PGothic" panose="020B0600070205080204" pitchFamily="1" charset="-128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pitchFamily="1" charset="0"/>
          <a:ea typeface="MS PGothic" panose="020B0600070205080204" pitchFamily="1" charset="-128"/>
          <a:cs typeface="MS PGothic" panose="020B0600070205080204" pitchFamily="1" charset="-128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pitchFamily="1" charset="0"/>
          <a:ea typeface="MS PGothic" panose="020B0600070205080204" pitchFamily="1" charset="-128"/>
          <a:cs typeface="MS PGothic" panose="020B0600070205080204" pitchFamily="1" charset="-128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pitchFamily="1" charset="0"/>
          <a:ea typeface="MS PGothic" panose="020B0600070205080204" pitchFamily="1" charset="-128"/>
          <a:cs typeface="MS PGothic" panose="020B0600070205080204" pitchFamily="1" charset="-128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pitchFamily="1" charset="0"/>
          <a:ea typeface="MS PGothic" panose="020B0600070205080204" pitchFamily="1" charset="-128"/>
          <a:cs typeface="MS PGothic" panose="020B0600070205080204" pitchFamily="1" charset="-128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pitchFamily="1" charset="0"/>
          <a:ea typeface="MS PGothic" panose="020B0600070205080204" pitchFamily="1" charset="-128"/>
          <a:cs typeface="MS PGothic" panose="020B0600070205080204" pitchFamily="1" charset="-128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pitchFamily="1" charset="0"/>
          <a:ea typeface="MS PGothic" panose="020B0600070205080204" pitchFamily="1" charset="-128"/>
          <a:cs typeface="MS PGothic" panose="020B0600070205080204" pitchFamily="1" charset="-128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TradeGothic"/>
          <a:ea typeface="MS PGothic" panose="020B0600070205080204" pitchFamily="1" charset="-128"/>
          <a:cs typeface="MS PGothic" panose="020B0600070205080204" pitchFamily="1" charset="-128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TradeGothic"/>
          <a:ea typeface="MS PGothic" panose="020B0600070205080204" pitchFamily="1" charset="-128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TradeGothic"/>
          <a:ea typeface="MS PGothic" panose="020B0600070205080204" pitchFamily="1" charset="-128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TradeGothic"/>
          <a:ea typeface="MS PGothic" panose="020B0600070205080204" pitchFamily="1" charset="-128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TradeGothic"/>
          <a:ea typeface="MS PGothic" panose="020B0600070205080204" pitchFamily="1" charset="-128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jpeg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image" Target="../media/image2.png"/><Relationship Id="rId7" Type="http://schemas.openxmlformats.org/officeDocument/2006/relationships/hyperlink" Target="https://link.springer.com/article/10.1007/s11042-023-15829-5" TargetMode="External"/><Relationship Id="rId6" Type="http://schemas.openxmlformats.org/officeDocument/2006/relationships/hyperlink" Target="https://arxiv.org/abs/2404.04564" TargetMode="External"/><Relationship Id="rId5" Type="http://schemas.openxmlformats.org/officeDocument/2006/relationships/hyperlink" Target="https://arxiv.org/abs/2404.12353" TargetMode="External"/><Relationship Id="rId4" Type="http://schemas.openxmlformats.org/officeDocument/2006/relationships/hyperlink" Target="https://dl.acm.org/doi/abs/10.1145/3652920.3652922" TargetMode="External"/><Relationship Id="rId3" Type="http://schemas.openxmlformats.org/officeDocument/2006/relationships/hyperlink" Target="https://scholar.google.com/scholar?hl=en&amp;as_sdt=0%2C5&amp;q=multimodal+language+models+for+domain-specific+procedural+video+summarisation+&amp;btnG=" TargetMode="External"/><Relationship Id="rId2" Type="http://schemas.openxmlformats.org/officeDocument/2006/relationships/hyperlink" Target="https://scholar.google.com/scholar?hl=en&amp;as_sdt=0%2C5&amp;q=vidsum-+video+summarisation+using+deep+learning&amp;oq=vidsum-+video+summarisation+using+deep.lesrn" TargetMode="External"/><Relationship Id="rId10" Type="http://schemas.openxmlformats.org/officeDocument/2006/relationships/notesSlide" Target="../notesSlides/notesSlide6.xml"/><Relationship Id="rId1" Type="http://schemas.openxmlformats.org/officeDocument/2006/relationships/hyperlink" Target="https://scholar.google.com/scholar?hl=en&amp;as_sdt=0%2C5&amp;q=statistical+evaluation+of+video+summarization+models+from+an+empirical+perspective&amp;btnG=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48586" name="Rectangle 24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8587" name="Freeform: Shape 26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2097152" name="Picture 4"/>
          <p:cNvPicPr>
            <a:picLocks noChangeAspect="1"/>
          </p:cNvPicPr>
          <p:nvPr/>
        </p:nvPicPr>
        <p:blipFill rotWithShape="1">
          <a:blip r:embed="rId1"/>
          <a:srcRect r="59916"/>
          <a:stretch>
            <a:fillRect/>
          </a:stretch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1048588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589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2024</a:t>
            </a:r>
            <a:endParaRPr lang="en-IN" sz="4000" b="1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48590" name="TextBox 9"/>
          <p:cNvSpPr txBox="1"/>
          <p:nvPr/>
        </p:nvSpPr>
        <p:spPr>
          <a:xfrm>
            <a:off x="350800" y="1489801"/>
            <a:ext cx="6479180" cy="5286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/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>
                <a:latin typeface="Arial" panose="020B0604020202020204" pitchFamily="34" charset="0"/>
                <a:cs typeface="Arial" panose="020B0604020202020204" pitchFamily="34" charset="0"/>
              </a:rPr>
              <a:t>Problem Statement ID –</a:t>
            </a: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1625</a:t>
            </a:r>
            <a:endParaRPr lang="en-US" sz="2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>
                <a:latin typeface="Arial" panose="020B0604020202020204" pitchFamily="34" charset="0"/>
                <a:cs typeface="Arial" panose="020B0604020202020204" pitchFamily="34" charset="0"/>
              </a:rPr>
              <a:t>Problem Statement Title – </a:t>
            </a: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Smart Classroom Management software for enhanced learning environments.</a:t>
            </a:r>
            <a:endParaRPr lang="en-US" sz="2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>
                <a:latin typeface="Arial" panose="020B0604020202020204" pitchFamily="34" charset="0"/>
                <a:cs typeface="Arial" panose="020B0604020202020204" pitchFamily="34" charset="0"/>
              </a:rPr>
              <a:t>Theme – </a:t>
            </a:r>
            <a:r>
              <a:rPr lang="en-IN" sz="2400">
                <a:latin typeface="Arial" panose="020B0604020202020204" pitchFamily="34" charset="0"/>
                <a:cs typeface="Arial" panose="020B0604020202020204" pitchFamily="34" charset="0"/>
              </a:rPr>
              <a:t>Smart automation </a:t>
            </a:r>
            <a:endParaRPr lang="en-US" sz="2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>
                <a:latin typeface="Arial" panose="020B0604020202020204" pitchFamily="34" charset="0"/>
                <a:cs typeface="Arial" panose="020B0604020202020204" pitchFamily="34" charset="0"/>
              </a:rPr>
              <a:t>PS Category –</a:t>
            </a:r>
            <a:r>
              <a:rPr lang="en-IN" sz="2400" b="1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2400">
                <a:latin typeface="Arial" panose="020B0604020202020204" pitchFamily="34" charset="0"/>
                <a:cs typeface="Arial" panose="020B0604020202020204" pitchFamily="34" charset="0"/>
              </a:rPr>
              <a:t>Software </a:t>
            </a:r>
            <a:endParaRPr lang="en-US" sz="2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>
                <a:latin typeface="Arial" panose="020B0604020202020204" pitchFamily="34" charset="0"/>
                <a:cs typeface="Arial" panose="020B0604020202020204" pitchFamily="34" charset="0"/>
              </a:rPr>
              <a:t>Team ID – </a:t>
            </a: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62</a:t>
            </a:r>
            <a:r>
              <a:rPr lang="en-IN" sz="24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US" sz="2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>
                <a:latin typeface="Arial" panose="020B0604020202020204" pitchFamily="34" charset="0"/>
                <a:cs typeface="Arial" panose="020B0604020202020204" pitchFamily="34" charset="0"/>
              </a:rPr>
              <a:t>Team Name (Registered on portal) – </a:t>
            </a: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Tiny coders</a:t>
            </a:r>
            <a:endParaRPr lang="en-IN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097153" name="Google Shape;93;p2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9803911" y="81376"/>
            <a:ext cx="2246575" cy="1149075"/>
          </a:xfrm>
          <a:prstGeom prst="rect">
            <a:avLst/>
          </a:prstGeom>
          <a:noFill/>
          <a:ln>
            <a:noFill/>
          </a:ln>
        </p:spPr>
      </p:pic>
      <p:sp>
        <p:nvSpPr>
          <p:cNvPr id="1048591" name="TextBox 1"/>
          <p:cNvSpPr txBox="1"/>
          <p:nvPr/>
        </p:nvSpPr>
        <p:spPr>
          <a:xfrm>
            <a:off x="5184576" y="2255639"/>
            <a:ext cx="1828800" cy="3581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7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en-US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048598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br>
              <a:rPr lang="en-US" sz="3600" b="1">
                <a:latin typeface="Times New Roman" panose="02020603050405020304" pitchFamily="18" charset="0"/>
                <a:ea typeface="MS PGothic" panose="020B0600070205080204" pitchFamily="1" charset="-128"/>
                <a:cs typeface="Times New Roman" panose="02020603050405020304" pitchFamily="18" charset="0"/>
              </a:rPr>
            </a:br>
            <a:r>
              <a:rPr lang="en-US" sz="3600" b="1">
                <a:latin typeface="Times New Roman" panose="02020603050405020304" pitchFamily="18" charset="0"/>
                <a:ea typeface="MS PGothic" panose="020B0600070205080204" pitchFamily="1" charset="-128"/>
                <a:cs typeface="Times New Roman" panose="02020603050405020304" pitchFamily="18" charset="0"/>
              </a:rPr>
              <a:t>IDEA TITLE</a:t>
            </a:r>
            <a:endParaRPr lang="en-US" sz="3600" b="1">
              <a:latin typeface="Times New Roman" panose="02020603050405020304" pitchFamily="18" charset="0"/>
              <a:ea typeface="MS PGothic" panose="020B0600070205080204" pitchFamily="1" charset="-128"/>
              <a:cs typeface="Times New Roman" panose="02020603050405020304" pitchFamily="18" charset="0"/>
            </a:endParaRPr>
          </a:p>
        </p:txBody>
      </p:sp>
      <p:sp>
        <p:nvSpPr>
          <p:cNvPr id="1048599" name="TextBox 8"/>
          <p:cNvSpPr txBox="1">
            <a:spLocks noChangeArrowheads="1"/>
          </p:cNvSpPr>
          <p:nvPr/>
        </p:nvSpPr>
        <p:spPr bwMode="auto">
          <a:xfrm>
            <a:off x="1" y="1233167"/>
            <a:ext cx="12191999" cy="550150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2800" b="1" u="sng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Proposed Solution</a:t>
            </a:r>
            <a:endParaRPr lang="en-US" sz="2800" b="1" u="sng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600" b="1">
                <a:solidFill>
                  <a:srgbClr val="002060"/>
                </a:solidFill>
              </a:rPr>
              <a:t>                                            Objective</a:t>
            </a:r>
            <a:r>
              <a:rPr lang="en-US" sz="1600">
                <a:solidFill>
                  <a:srgbClr val="002060"/>
                </a:solidFill>
              </a:rPr>
              <a:t>: Create a website where long lecture videos are summarized for quicker review.</a:t>
            </a:r>
            <a:endParaRPr lang="en-US" sz="1600">
              <a:solidFill>
                <a:srgbClr val="002060"/>
              </a:solidFill>
            </a:endParaRPr>
          </a:p>
          <a:p>
            <a:r>
              <a:rPr lang="en-US" sz="1600" b="1">
                <a:solidFill>
                  <a:srgbClr val="002060"/>
                </a:solidFill>
              </a:rPr>
              <a:t>                                             Video Summarization</a:t>
            </a:r>
            <a:r>
              <a:rPr lang="en-US" sz="1600">
                <a:solidFill>
                  <a:srgbClr val="002060"/>
                </a:solidFill>
              </a:rPr>
              <a:t>: AI shortens 1-hour lectures to 15-20 minute videos.</a:t>
            </a:r>
            <a:endParaRPr lang="en-US" sz="1600">
              <a:solidFill>
                <a:srgbClr val="002060"/>
              </a:solidFill>
            </a:endParaRPr>
          </a:p>
          <a:p>
            <a:r>
              <a:rPr lang="en-US" sz="1600" b="1">
                <a:solidFill>
                  <a:srgbClr val="002060"/>
                </a:solidFill>
              </a:rPr>
              <a:t>                                             Text Summarization</a:t>
            </a:r>
            <a:r>
              <a:rPr lang="en-US" sz="1600">
                <a:solidFill>
                  <a:srgbClr val="002060"/>
                </a:solidFill>
              </a:rPr>
              <a:t>: AI generates audio and text summaries alongside the video</a:t>
            </a:r>
            <a:endParaRPr lang="en-US" sz="1600">
              <a:solidFill>
                <a:srgbClr val="002060"/>
              </a:solidFill>
            </a:endParaRPr>
          </a:p>
          <a:p>
            <a:r>
              <a:rPr lang="en-US" sz="1600" b="1">
                <a:solidFill>
                  <a:srgbClr val="002060"/>
                </a:solidFill>
              </a:rPr>
              <a:t>                                             Quiz Generation</a:t>
            </a:r>
            <a:r>
              <a:rPr lang="en-US" sz="1600">
                <a:solidFill>
                  <a:srgbClr val="002060"/>
                </a:solidFill>
              </a:rPr>
              <a:t>: Auto-generated quizzes from lecture keywords.</a:t>
            </a:r>
            <a:endParaRPr lang="en-US" sz="1600">
              <a:solidFill>
                <a:srgbClr val="002060"/>
              </a:solidFill>
            </a:endParaRPr>
          </a:p>
          <a:p>
            <a:r>
              <a:rPr lang="en-US" sz="1600" b="1">
                <a:solidFill>
                  <a:srgbClr val="002060"/>
                </a:solidFill>
              </a:rPr>
              <a:t>                                             Discussion Forum</a:t>
            </a:r>
            <a:r>
              <a:rPr lang="en-US" sz="1600">
                <a:solidFill>
                  <a:srgbClr val="002060"/>
                </a:solidFill>
              </a:rPr>
              <a:t>: A platform for students and teachers to discuss lectures daily</a:t>
            </a:r>
            <a:endParaRPr lang="en-US" sz="1600">
              <a:solidFill>
                <a:srgbClr val="002060"/>
              </a:solidFill>
            </a:endParaRPr>
          </a:p>
          <a:p>
            <a:r>
              <a:rPr lang="en-US" sz="1600" b="1">
                <a:solidFill>
                  <a:srgbClr val="002060"/>
                </a:solidFill>
              </a:rPr>
              <a:t>                                             Benefit</a:t>
            </a:r>
            <a:r>
              <a:rPr lang="en-US" sz="1600">
                <a:solidFill>
                  <a:srgbClr val="002060"/>
                </a:solidFill>
              </a:rPr>
              <a:t>: Helps students revise lectures in a shorter time, enhancing learning efficiency.</a:t>
            </a:r>
            <a:endParaRPr lang="en-US" sz="1600">
              <a:solidFill>
                <a:srgbClr val="002060"/>
              </a:solidFill>
            </a:endParaRPr>
          </a:p>
          <a:p>
            <a:endParaRPr lang="en-US" sz="160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600" b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Tools and Techniques/Algorithms used :-</a:t>
            </a:r>
            <a:endParaRPr lang="en-US" sz="1600" b="1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1600" b="1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28600" indent="-228600">
              <a:buFont typeface="+mj-lt"/>
              <a:buAutoNum type="arabicPeriod"/>
            </a:pPr>
            <a:r>
              <a:rPr lang="en-US" sz="1600" b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Lib PySceneDetect :- </a:t>
            </a:r>
            <a:r>
              <a:rPr lang="en-US" sz="16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Automatically splits the videos into various segments/clips</a:t>
            </a:r>
            <a:r>
              <a:rPr lang="en-US" sz="1600" b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sz="1600" b="1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28600" indent="-228600">
              <a:buFont typeface="+mj-lt"/>
              <a:buAutoNum type="arabicPeriod"/>
            </a:pPr>
            <a:r>
              <a:rPr lang="en-US" sz="1600" b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Lib whisper:- </a:t>
            </a:r>
            <a:r>
              <a:rPr lang="en-US" sz="16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It converts any audio to text</a:t>
            </a:r>
            <a:r>
              <a:rPr lang="en-US" sz="1600" b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sz="1600" b="1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28600" indent="-228600">
              <a:buFont typeface="+mj-lt"/>
              <a:buAutoNum type="arabicPeriod"/>
            </a:pPr>
            <a:r>
              <a:rPr lang="en-US" sz="1600" b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NLP technique:- </a:t>
            </a:r>
            <a:r>
              <a:rPr lang="en-US" sz="16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 check the link or similarity between segments.</a:t>
            </a:r>
            <a:endParaRPr lang="en-US" sz="160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28600" indent="-228600">
              <a:buFont typeface="+mj-lt"/>
              <a:buAutoNum type="arabicPeriod"/>
            </a:pPr>
            <a:r>
              <a:rPr lang="en-US" sz="1600" b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FFmpeg:- </a:t>
            </a:r>
            <a:r>
              <a:rPr lang="en-US" sz="16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Based on time factor the similar videos are merged together.</a:t>
            </a:r>
            <a:endParaRPr lang="zh-CN" altLang="en-US" sz="1600"/>
          </a:p>
          <a:p>
            <a:pPr marL="228600" indent="-228600">
              <a:buFont typeface="+mj-lt"/>
              <a:buAutoNum type="arabicPeriod"/>
            </a:pPr>
            <a:r>
              <a:rPr lang="en-US" sz="1600" b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Rake Lib and spaCy lib:- </a:t>
            </a:r>
            <a:r>
              <a:rPr lang="en-US" sz="16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Extracts the key-words to form the summary.</a:t>
            </a:r>
            <a:endParaRPr lang="zh-CN" altLang="en-US" sz="1600"/>
          </a:p>
          <a:p>
            <a:pPr marL="228600" indent="-228600">
              <a:buFont typeface="+mj-lt"/>
              <a:buAutoNum type="arabicPeriod"/>
            </a:pPr>
            <a:r>
              <a:rPr lang="en-US" sz="1600" b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Hugging face question generation pipeline( From transforms import pipeline):- </a:t>
            </a:r>
            <a:r>
              <a:rPr lang="en-US" sz="16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Returns questions based on key points extracted from summary.</a:t>
            </a:r>
            <a:endParaRPr lang="en-US" sz="160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28600" indent="-228600">
              <a:buFont typeface="+mj-lt"/>
              <a:buAutoNum type="arabicPeriod"/>
            </a:pPr>
            <a:r>
              <a:rPr lang="en-US" sz="1600" b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JSON:- </a:t>
            </a:r>
            <a:r>
              <a:rPr lang="en-US" sz="16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Format in which quiz are stored.</a:t>
            </a:r>
            <a:endParaRPr lang="en-US" sz="160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28600" indent="-228600">
              <a:buFont typeface="+mj-lt"/>
              <a:buAutoNum type="arabicPeriod"/>
            </a:pPr>
            <a:r>
              <a:rPr lang="en-US" sz="1600" b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Open CV:- </a:t>
            </a:r>
            <a:r>
              <a:rPr lang="en-US" sz="16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 access camera feed</a:t>
            </a:r>
            <a:r>
              <a:rPr lang="en-US" sz="1600" b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sz="1600" b="1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28600" indent="-228600">
              <a:buFont typeface="+mj-lt"/>
              <a:buAutoNum type="arabicPeriod"/>
            </a:pPr>
            <a:r>
              <a:rPr lang="en-US" sz="1600" b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Tesseract Lib</a:t>
            </a:r>
            <a:r>
              <a:rPr lang="en-US" sz="16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:- Helps in detecting texts in the frame.       </a:t>
            </a:r>
            <a:endParaRPr lang="en-US" sz="160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55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US" sz="155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4860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</a:fld>
            <a:endParaRPr lang="en-US" b="1">
              <a:solidFill>
                <a:schemeClr val="bg1"/>
              </a:solidFill>
            </a:endParaRPr>
          </a:p>
        </p:txBody>
      </p:sp>
      <p:sp>
        <p:nvSpPr>
          <p:cNvPr id="1048601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1048602" name="Oval 9" descr="Your startup LOGO"/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/>
              <a:t>Tiny coders </a:t>
            </a:r>
            <a:endParaRPr lang="en-IN"/>
          </a:p>
        </p:txBody>
      </p:sp>
      <p:pic>
        <p:nvPicPr>
          <p:cNvPr id="2097154" name="Google Shape;93;p2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9803911" y="81376"/>
            <a:ext cx="2246575" cy="114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6" name="Rectangle 9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en-US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048607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>
                <a:latin typeface="Times New Roman" panose="02020603050405020304" pitchFamily="18" charset="0"/>
                <a:ea typeface="MS PGothic" panose="020B0600070205080204" pitchFamily="1" charset="-128"/>
                <a:cs typeface="Times New Roman" panose="02020603050405020304" pitchFamily="18" charset="0"/>
              </a:rPr>
              <a:t>TECHNICAL APPROACH</a:t>
            </a:r>
            <a:endParaRPr lang="en-US" sz="3600" b="1">
              <a:latin typeface="Times New Roman" panose="02020603050405020304" pitchFamily="18" charset="0"/>
              <a:ea typeface="MS PGothic" panose="020B0600070205080204" pitchFamily="1" charset="-128"/>
              <a:cs typeface="Times New Roman" panose="02020603050405020304" pitchFamily="18" charset="0"/>
            </a:endParaRPr>
          </a:p>
        </p:txBody>
      </p:sp>
      <p:sp>
        <p:nvSpPr>
          <p:cNvPr id="104860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</a:fld>
            <a:endParaRPr lang="en-US" b="1">
              <a:solidFill>
                <a:schemeClr val="bg1"/>
              </a:solidFill>
            </a:endParaRPr>
          </a:p>
        </p:txBody>
      </p:sp>
      <p:sp>
        <p:nvSpPr>
          <p:cNvPr id="1048609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>
              <a:solidFill>
                <a:schemeClr val="bg1"/>
              </a:solidFill>
            </a:endParaRPr>
          </a:p>
        </p:txBody>
      </p:sp>
      <p:pic>
        <p:nvPicPr>
          <p:cNvPr id="2097155" name="Google Shape;93;p2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9803911" y="81376"/>
            <a:ext cx="2246575" cy="1149075"/>
          </a:xfrm>
          <a:prstGeom prst="rect">
            <a:avLst/>
          </a:prstGeom>
          <a:noFill/>
          <a:ln>
            <a:noFill/>
          </a:ln>
        </p:spPr>
      </p:pic>
      <p:sp>
        <p:nvSpPr>
          <p:cNvPr id="1048610" name="Oval 10" descr="Your startup LOGO"/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/>
              <a:t>Tiny coders </a:t>
            </a:r>
            <a:endParaRPr lang="en-IN"/>
          </a:p>
        </p:txBody>
      </p:sp>
      <p:sp>
        <p:nvSpPr>
          <p:cNvPr id="1048611" name="TextBox 2"/>
          <p:cNvSpPr txBox="1"/>
          <p:nvPr/>
        </p:nvSpPr>
        <p:spPr>
          <a:xfrm>
            <a:off x="719277" y="1324411"/>
            <a:ext cx="5725276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/>
              <a:t>Programming language : </a:t>
            </a:r>
            <a:r>
              <a:rPr lang="en-IN" b="1"/>
              <a:t>Python.</a:t>
            </a:r>
            <a:endParaRPr lang="en-IN" b="1"/>
          </a:p>
          <a:p>
            <a:r>
              <a:rPr lang="en-IN"/>
              <a:t>(</a:t>
            </a:r>
            <a:r>
              <a:rPr lang="en-IN" err="1"/>
              <a:t>i</a:t>
            </a:r>
            <a:r>
              <a:rPr lang="en-IN"/>
              <a:t>)For object detection and video processing we use </a:t>
            </a:r>
            <a:r>
              <a:rPr lang="en-IN" b="1"/>
              <a:t>Open </a:t>
            </a:r>
            <a:r>
              <a:rPr lang="en-IN" b="1" err="1"/>
              <a:t>CV,CNN,Tesseract</a:t>
            </a:r>
            <a:r>
              <a:rPr lang="en-IN" b="1"/>
              <a:t> </a:t>
            </a:r>
            <a:r>
              <a:rPr lang="en-IN"/>
              <a:t>libraries.</a:t>
            </a:r>
            <a:endParaRPr lang="en-IN"/>
          </a:p>
          <a:p>
            <a:r>
              <a:rPr lang="en-IN"/>
              <a:t>(ii)To break the video we use </a:t>
            </a:r>
            <a:r>
              <a:rPr lang="en-IN" b="1" err="1"/>
              <a:t>Pyscence</a:t>
            </a:r>
            <a:r>
              <a:rPr lang="en-IN" b="1"/>
              <a:t> Detect </a:t>
            </a:r>
            <a:r>
              <a:rPr lang="en-IN"/>
              <a:t>library.</a:t>
            </a:r>
            <a:endParaRPr lang="en-IN"/>
          </a:p>
          <a:p>
            <a:r>
              <a:rPr lang="en-IN"/>
              <a:t>(iii)To convert segment videos to text and vice versa we use</a:t>
            </a:r>
            <a:r>
              <a:rPr lang="en-IN" b="1"/>
              <a:t> </a:t>
            </a:r>
            <a:r>
              <a:rPr lang="en-IN" b="1" err="1"/>
              <a:t>Whipser</a:t>
            </a:r>
            <a:r>
              <a:rPr lang="en-IN" b="1"/>
              <a:t> </a:t>
            </a:r>
            <a:r>
              <a:rPr lang="en-IN"/>
              <a:t>library.</a:t>
            </a:r>
            <a:endParaRPr lang="en-IN"/>
          </a:p>
          <a:p>
            <a:r>
              <a:rPr lang="en-IN"/>
              <a:t>(iv)To sync the summarized segments we use </a:t>
            </a:r>
            <a:r>
              <a:rPr lang="en-IN" b="1"/>
              <a:t>NLP </a:t>
            </a:r>
            <a:r>
              <a:rPr lang="en-IN"/>
              <a:t>technique.</a:t>
            </a:r>
            <a:endParaRPr lang="en-IN"/>
          </a:p>
          <a:p>
            <a:r>
              <a:rPr lang="en-IN"/>
              <a:t>(v)To merge the synced we use segments we use </a:t>
            </a:r>
            <a:r>
              <a:rPr lang="en-IN" b="1" err="1"/>
              <a:t>Ffmpeg</a:t>
            </a:r>
            <a:r>
              <a:rPr lang="en-IN"/>
              <a:t> library.</a:t>
            </a:r>
            <a:endParaRPr lang="en-IN"/>
          </a:p>
          <a:p>
            <a:r>
              <a:rPr lang="en-IN"/>
              <a:t>(vi)</a:t>
            </a:r>
            <a:r>
              <a:rPr lang="en-IN" b="1"/>
              <a:t>RAK</a:t>
            </a:r>
            <a:r>
              <a:rPr lang="en-IN"/>
              <a:t>E and </a:t>
            </a:r>
            <a:r>
              <a:rPr lang="en-IN" b="1"/>
              <a:t>SPACY</a:t>
            </a:r>
            <a:r>
              <a:rPr lang="en-IN"/>
              <a:t> libraries to extract key points from summary.</a:t>
            </a:r>
            <a:endParaRPr lang="en-IN"/>
          </a:p>
          <a:p>
            <a:r>
              <a:rPr lang="en-IN"/>
              <a:t>(vii)</a:t>
            </a:r>
            <a:r>
              <a:rPr lang="en-IN" b="1"/>
              <a:t>Hugging face quantization </a:t>
            </a:r>
            <a:r>
              <a:rPr lang="en-IN"/>
              <a:t>to generate quiz questions from the summary.</a:t>
            </a:r>
            <a:endParaRPr lang="en-IN"/>
          </a:p>
          <a:p>
            <a:r>
              <a:rPr lang="en-IN"/>
              <a:t>(viii)</a:t>
            </a:r>
            <a:r>
              <a:rPr lang="en-IN" b="1"/>
              <a:t>JSON</a:t>
            </a:r>
            <a:r>
              <a:rPr lang="en-IN"/>
              <a:t> for quiz tabs.</a:t>
            </a:r>
            <a:endParaRPr lang="en-IN"/>
          </a:p>
          <a:p>
            <a:endParaRPr lang="en-IN"/>
          </a:p>
          <a:p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8936" y="1095375"/>
            <a:ext cx="5500468" cy="512286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4" name="Rectangle 9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 panose="020F0502020204030204"/>
              <a:ea typeface="MS PGothic" panose="020B0600070205080204" pitchFamily="1" charset="-128"/>
              <a:cs typeface="+mn-cs"/>
            </a:endParaRPr>
          </a:p>
        </p:txBody>
      </p:sp>
      <p:sp>
        <p:nvSpPr>
          <p:cNvPr id="104862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>
                <a:latin typeface="Times New Roman" panose="02020603050405020304" pitchFamily="18" charset="0"/>
                <a:ea typeface="MS PGothic" panose="020B0600070205080204" pitchFamily="1" charset="-128"/>
                <a:cs typeface="Times New Roman" panose="02020603050405020304" pitchFamily="18" charset="0"/>
              </a:rPr>
              <a:t>FEASIBILITY AND VIABILITY</a:t>
            </a:r>
            <a:endParaRPr lang="en-US" sz="3600" b="1">
              <a:latin typeface="Times New Roman" panose="02020603050405020304" pitchFamily="18" charset="0"/>
              <a:ea typeface="MS PGothic" panose="020B0600070205080204" pitchFamily="1" charset="-128"/>
              <a:cs typeface="Times New Roman" panose="02020603050405020304" pitchFamily="18" charset="0"/>
            </a:endParaRPr>
          </a:p>
        </p:txBody>
      </p:sp>
      <p:sp>
        <p:nvSpPr>
          <p:cNvPr id="1048626" name="TextBox 8"/>
          <p:cNvSpPr txBox="1">
            <a:spLocks noChangeArrowheads="1"/>
          </p:cNvSpPr>
          <p:nvPr/>
        </p:nvSpPr>
        <p:spPr bwMode="auto">
          <a:xfrm>
            <a:off x="676910" y="1781175"/>
            <a:ext cx="4848860" cy="329628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no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sz="2000" b="1" u="sng">
                <a:solidFill>
                  <a:prstClr val="black"/>
                </a:solidFill>
                <a:cs typeface="Calibri" panose="020F0502020204030204" pitchFamily="34" charset="0"/>
                <a:sym typeface="+mn-ea"/>
              </a:rPr>
              <a:t>Analysis of the feasibility of the idea:</a:t>
            </a:r>
            <a:endParaRPr lang="en-US" sz="2000" b="1" u="sng">
              <a:solidFill>
                <a:prstClr val="black"/>
              </a:solidFill>
              <a:cs typeface="Calibri" panose="020F0502020204030204" pitchFamily="34" charset="0"/>
            </a:endParaRP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charset="0"/>
              <a:buChar char="Ø"/>
              <a:defRPr/>
            </a:pPr>
            <a:r>
              <a:rPr lang="en-US" sz="2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cs typeface="+mn-lt"/>
                <a:sym typeface="+mn-ea"/>
              </a:rPr>
              <a:t>Advancements in AI and ML</a:t>
            </a: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lt"/>
              <a:ea typeface="MS PGothic" panose="020B0600070205080204" pitchFamily="1" charset="-128"/>
              <a:cs typeface="+mn-lt"/>
            </a:endParaRP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charset="0"/>
              <a:buChar char="Ø"/>
              <a:defRPr/>
            </a:pPr>
            <a:r>
              <a:rPr lang="en-US" sz="2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cs typeface="+mn-lt"/>
                <a:sym typeface="+mn-ea"/>
              </a:rPr>
              <a:t>Complexity</a:t>
            </a:r>
            <a:endParaRPr lang="en-US" sz="200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lt"/>
              <a:cs typeface="+mn-lt"/>
              <a:sym typeface="+mn-ea"/>
            </a:endParaRP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charset="0"/>
              <a:buChar char="Ø"/>
              <a:defRPr/>
            </a:pPr>
            <a:r>
              <a:rPr lang="en-US" sz="2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cs typeface="+mn-lt"/>
                <a:sym typeface="+mn-ea"/>
              </a:rPr>
              <a:t>Cost of Development</a:t>
            </a: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lt"/>
              <a:ea typeface="MS PGothic" panose="020B0600070205080204" pitchFamily="1" charset="-128"/>
              <a:cs typeface="+mn-lt"/>
            </a:endParaRP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charset="0"/>
              <a:buChar char="Ø"/>
              <a:defRPr/>
            </a:pPr>
            <a:r>
              <a:rPr lang="en-US" sz="2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cs typeface="+mn-lt"/>
                <a:sym typeface="+mn-ea"/>
              </a:rPr>
              <a:t>Customization</a:t>
            </a: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lt"/>
              <a:ea typeface="MS PGothic" panose="020B0600070205080204" pitchFamily="1" charset="-128"/>
              <a:cs typeface="+mn-lt"/>
            </a:endParaRP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charset="0"/>
              <a:buChar char="Ø"/>
              <a:defRPr/>
            </a:pPr>
            <a:r>
              <a:rPr lang="en-US" sz="2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cs typeface="+mn-lt"/>
                <a:sym typeface="+mn-ea"/>
              </a:rPr>
              <a:t>User Integration </a:t>
            </a:r>
            <a:endParaRPr lang="en-US" sz="200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lt"/>
              <a:cs typeface="+mn-lt"/>
              <a:sym typeface="+mn-ea"/>
            </a:endParaRPr>
          </a:p>
          <a:p>
            <a:pPr marL="0" marR="0" lvl="0" indent="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charset="0"/>
              <a:buNone/>
              <a:defRPr/>
            </a:pPr>
            <a:r>
              <a:rPr lang="en-US" sz="2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cs typeface="+mn-lt"/>
                <a:sym typeface="+mn-ea"/>
              </a:rPr>
              <a:t>     </a:t>
            </a: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lt"/>
              <a:ea typeface="MS PGothic" panose="020B0600070205080204" pitchFamily="1" charset="-128"/>
              <a:cs typeface="+mn-lt"/>
            </a:endParaRP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sz="2000" b="1" u="sng">
                <a:solidFill>
                  <a:prstClr val="black"/>
                </a:solidFill>
                <a:latin typeface="+mn-lt"/>
                <a:cs typeface="+mn-lt"/>
                <a:sym typeface="+mn-ea"/>
              </a:rPr>
              <a:t>Potential challenges and risks:</a:t>
            </a:r>
            <a:endParaRPr lang="en-US" sz="2000" b="1" u="sng">
              <a:solidFill>
                <a:prstClr val="black"/>
              </a:solidFill>
              <a:latin typeface="+mn-lt"/>
              <a:cs typeface="+mn-lt"/>
            </a:endParaRP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charset="0"/>
              <a:buChar char="Ø"/>
              <a:defRPr/>
            </a:pPr>
            <a:r>
              <a:rPr lang="en-US" sz="2000">
                <a:solidFill>
                  <a:prstClr val="black"/>
                </a:solidFill>
                <a:latin typeface="+mn-lt"/>
                <a:cs typeface="+mn-lt"/>
                <a:sym typeface="+mn-ea"/>
              </a:rPr>
              <a:t>Accuracy</a:t>
            </a:r>
            <a:endParaRPr lang="en-US" sz="2000">
              <a:solidFill>
                <a:prstClr val="black"/>
              </a:solidFill>
              <a:latin typeface="+mn-lt"/>
              <a:cs typeface="+mn-lt"/>
            </a:endParaRP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charset="0"/>
              <a:buChar char="Ø"/>
              <a:defRPr/>
            </a:pPr>
            <a:r>
              <a:rPr lang="en-US" sz="2000">
                <a:solidFill>
                  <a:prstClr val="black"/>
                </a:solidFill>
                <a:latin typeface="+mn-lt"/>
                <a:cs typeface="+mn-lt"/>
                <a:sym typeface="+mn-ea"/>
              </a:rPr>
              <a:t>Real-Time Processing</a:t>
            </a:r>
            <a:endParaRPr lang="en-US" sz="2000">
              <a:solidFill>
                <a:prstClr val="black"/>
              </a:solidFill>
              <a:latin typeface="+mn-lt"/>
              <a:cs typeface="+mn-lt"/>
            </a:endParaRPr>
          </a:p>
          <a:p>
            <a:pPr marL="0" marR="0" lvl="0" indent="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charset="0"/>
              <a:buNone/>
              <a:defRPr/>
            </a:pPr>
            <a:endParaRPr lang="en-US" sz="2000">
              <a:solidFill>
                <a:prstClr val="black"/>
              </a:solidFill>
              <a:latin typeface="+mn-lt"/>
              <a:cs typeface="+mn-lt"/>
            </a:endParaRPr>
          </a:p>
        </p:txBody>
      </p:sp>
      <p:sp>
        <p:nvSpPr>
          <p:cNvPr id="104862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MS PGothic" panose="020B0600070205080204" pitchFamily="1" charset="-128"/>
                <a:cs typeface="+mn-cs"/>
              </a:rPr>
            </a:fld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MS PGothic" panose="020B0600070205080204" pitchFamily="1" charset="-128"/>
              <a:cs typeface="+mn-cs"/>
            </a:endParaRPr>
          </a:p>
        </p:txBody>
      </p:sp>
      <p:sp>
        <p:nvSpPr>
          <p:cNvPr id="1048628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2097157" name="Google Shape;93;p2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9803911" y="81376"/>
            <a:ext cx="2246575" cy="1149075"/>
          </a:xfrm>
          <a:prstGeom prst="rect">
            <a:avLst/>
          </a:prstGeom>
          <a:noFill/>
          <a:ln>
            <a:noFill/>
          </a:ln>
        </p:spPr>
      </p:pic>
      <p:sp>
        <p:nvSpPr>
          <p:cNvPr id="1048629" name="Oval 11" descr="Your startup LOGO"/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Tiny coders</a:t>
            </a:r>
            <a:endParaRPr lang="en-IN"/>
          </a:p>
        </p:txBody>
      </p:sp>
      <p:sp>
        <p:nvSpPr>
          <p:cNvPr id="3" name="TextBox 2"/>
          <p:cNvSpPr txBox="1"/>
          <p:nvPr/>
        </p:nvSpPr>
        <p:spPr>
          <a:xfrm>
            <a:off x="6139815" y="1781175"/>
            <a:ext cx="5574030" cy="34461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sz="2000" b="1" u="sng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cs typeface="+mn-lt"/>
                <a:sym typeface="+mn-ea"/>
              </a:rPr>
              <a:t>Strategies for overcoming these challenges:</a:t>
            </a:r>
            <a:endParaRPr lang="en-US" sz="200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lt"/>
              <a:cs typeface="+mn-lt"/>
              <a:sym typeface="+mn-ea"/>
            </a:endParaRPr>
          </a:p>
          <a:p>
            <a:pPr marL="0" marR="0" lvl="0" indent="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charset="0"/>
              <a:buNone/>
              <a:defRPr/>
            </a:pPr>
            <a:r>
              <a:rPr lang="en-US" sz="2000" b="1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cs typeface="+mn-lt"/>
                <a:sym typeface="+mn-ea"/>
              </a:rPr>
              <a:t>Improving accuracy:</a:t>
            </a:r>
            <a:endParaRPr kumimoji="0" lang="en-US" sz="20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lt"/>
              <a:ea typeface="MS PGothic" panose="020B0600070205080204" pitchFamily="1" charset="-128"/>
              <a:cs typeface="+mn-lt"/>
            </a:endParaRPr>
          </a:p>
          <a:p>
            <a:pPr marL="285750" marR="0" lvl="0" indent="-28575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charset="0"/>
              <a:buChar char="Ø"/>
              <a:defRPr/>
            </a:pPr>
            <a:r>
              <a:rPr lang="en-US" sz="2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cs typeface="+mn-lt"/>
                <a:sym typeface="+mn-ea"/>
              </a:rPr>
              <a:t>Multimodal Analysis</a:t>
            </a:r>
            <a:endParaRPr lang="en-US" sz="200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lt"/>
              <a:cs typeface="+mn-lt"/>
              <a:sym typeface="+mn-ea"/>
            </a:endParaRPr>
          </a:p>
          <a:p>
            <a:pPr marL="285750" marR="0" lvl="0" indent="-28575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charset="0"/>
              <a:buChar char="Ø"/>
              <a:defRPr/>
            </a:pPr>
            <a:r>
              <a:rPr lang="en-US" sz="2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cs typeface="+mn-lt"/>
                <a:sym typeface="+mn-ea"/>
              </a:rPr>
              <a:t>Domain-Specific Models  </a:t>
            </a:r>
            <a:endParaRPr lang="en-US" sz="200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lt"/>
              <a:cs typeface="+mn-lt"/>
              <a:sym typeface="+mn-ea"/>
            </a:endParaRPr>
          </a:p>
          <a:p>
            <a:pPr marL="285750" marR="0" lvl="0" indent="-28575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charset="0"/>
              <a:buChar char="Ø"/>
              <a:defRPr/>
            </a:pPr>
            <a:r>
              <a:rPr lang="en-US" sz="2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cs typeface="+mn-lt"/>
                <a:sym typeface="+mn-ea"/>
              </a:rPr>
              <a:t>User Feedback and Reinforcement Learning</a:t>
            </a:r>
            <a:endParaRPr lang="en-US" sz="200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lt"/>
              <a:cs typeface="+mn-lt"/>
              <a:sym typeface="+mn-ea"/>
            </a:endParaRPr>
          </a:p>
          <a:p>
            <a:pPr marL="0" marR="0" lvl="0" indent="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sz="2000" b="1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cs typeface="+mn-lt"/>
                <a:sym typeface="+mn-ea"/>
              </a:rPr>
              <a:t>Improving real time processing:</a:t>
            </a:r>
            <a:endParaRPr lang="en-US" sz="2000" b="1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lt"/>
              <a:cs typeface="+mn-lt"/>
              <a:sym typeface="+mn-ea"/>
            </a:endParaRPr>
          </a:p>
          <a:p>
            <a:pPr marL="285750" marR="0" lvl="0" indent="-28575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charset="0"/>
              <a:buChar char="Ø"/>
              <a:defRPr/>
            </a:pPr>
            <a:r>
              <a:rPr lang="en-US" sz="2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cs typeface="+mn-lt"/>
                <a:sym typeface="+mn-ea"/>
              </a:rPr>
              <a:t>Edge Computing </a:t>
            </a:r>
            <a:endParaRPr lang="en-US" sz="200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lt"/>
              <a:cs typeface="+mn-lt"/>
              <a:sym typeface="+mn-ea"/>
            </a:endParaRPr>
          </a:p>
          <a:p>
            <a:pPr marL="285750" marR="0" lvl="0" indent="-28575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charset="0"/>
              <a:buChar char="Ø"/>
              <a:defRPr/>
            </a:pPr>
            <a:r>
              <a:rPr lang="en-US" sz="2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cs typeface="+mn-lt"/>
                <a:sym typeface="+mn-ea"/>
              </a:rPr>
              <a:t>Efficient Model Compression </a:t>
            </a:r>
            <a:endParaRPr lang="en-US" sz="200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lt"/>
              <a:cs typeface="+mn-lt"/>
              <a:sym typeface="+mn-ea"/>
            </a:endParaRPr>
          </a:p>
          <a:p>
            <a:pPr marL="285750" marR="0" lvl="0" indent="-28575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charset="0"/>
              <a:buChar char="Ø"/>
              <a:defRPr/>
            </a:pPr>
            <a:r>
              <a:rPr lang="en-US" sz="2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cs typeface="+mn-lt"/>
                <a:sym typeface="+mn-ea"/>
              </a:rPr>
              <a:t>Temporal Segmentation</a:t>
            </a: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lt"/>
              <a:ea typeface="MS PGothic" panose="020B0600070205080204" pitchFamily="1" charset="-128"/>
              <a:cs typeface="+mn-lt"/>
            </a:endParaRPr>
          </a:p>
          <a:p>
            <a:pPr marL="0" marR="0" lvl="0" indent="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sz="2000" b="1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cs typeface="+mn-lt"/>
                <a:sym typeface="+mn-ea"/>
              </a:rPr>
              <a:t> </a:t>
            </a:r>
            <a:endParaRPr lang="en-US" sz="200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lt"/>
              <a:cs typeface="+mn-lt"/>
              <a:sym typeface="+mn-ea"/>
            </a:endParaRPr>
          </a:p>
          <a:p>
            <a:endParaRPr lang="en-I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3" name="Rectangle 9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 panose="020F0502020204030204"/>
              <a:ea typeface="MS PGothic" panose="020B0600070205080204" pitchFamily="1" charset="-128"/>
              <a:cs typeface="+mn-cs"/>
            </a:endParaRPr>
          </a:p>
        </p:txBody>
      </p:sp>
      <p:sp>
        <p:nvSpPr>
          <p:cNvPr id="10486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>
                <a:latin typeface="Times New Roman" panose="02020603050405020304" pitchFamily="18" charset="0"/>
                <a:ea typeface="MS PGothic" panose="020B0600070205080204" pitchFamily="1" charset="-128"/>
                <a:cs typeface="Times New Roman" panose="02020603050405020304" pitchFamily="18" charset="0"/>
              </a:rPr>
              <a:t>IMPACT AND BENEFITS</a:t>
            </a:r>
            <a:endParaRPr lang="en-US" sz="3600" b="1">
              <a:latin typeface="Times New Roman" panose="02020603050405020304" pitchFamily="18" charset="0"/>
              <a:ea typeface="MS PGothic" panose="020B0600070205080204" pitchFamily="1" charset="-128"/>
              <a:cs typeface="Times New Roman" panose="02020603050405020304" pitchFamily="18" charset="0"/>
            </a:endParaRPr>
          </a:p>
        </p:txBody>
      </p:sp>
      <p:sp>
        <p:nvSpPr>
          <p:cNvPr id="1048635" name="TextBox 8"/>
          <p:cNvSpPr txBox="1">
            <a:spLocks noChangeArrowheads="1"/>
          </p:cNvSpPr>
          <p:nvPr/>
        </p:nvSpPr>
        <p:spPr bwMode="auto">
          <a:xfrm>
            <a:off x="609600" y="1874728"/>
            <a:ext cx="9385300" cy="310854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marL="342900" indent="-342900">
              <a:buAutoNum type="arabicPeriod"/>
            </a:pPr>
            <a:r>
              <a:rPr lang="en-IN" sz="2800"/>
              <a:t>Time Efficiency</a:t>
            </a:r>
            <a:endParaRPr lang="en-IN" sz="2800"/>
          </a:p>
          <a:p>
            <a:pPr marL="342900" indent="-342900">
              <a:buAutoNum type="arabicPeriod"/>
            </a:pPr>
            <a:r>
              <a:rPr lang="en-IN" sz="2800"/>
              <a:t>Enhanced Learning and Retention</a:t>
            </a:r>
            <a:endParaRPr lang="en-IN" sz="2800"/>
          </a:p>
          <a:p>
            <a:pPr marL="342900" indent="-342900">
              <a:buAutoNum type="arabicPeriod"/>
            </a:pPr>
            <a:r>
              <a:rPr lang="en-IN" sz="2800"/>
              <a:t>Personalized Learning</a:t>
            </a:r>
            <a:endParaRPr lang="en-IN" sz="2800"/>
          </a:p>
          <a:p>
            <a:pPr marL="342900" indent="-342900">
              <a:buAutoNum type="arabicPeriod"/>
            </a:pPr>
            <a:r>
              <a:rPr lang="en-IN" sz="2800"/>
              <a:t>Accessibility and Flexibility</a:t>
            </a:r>
            <a:endParaRPr lang="en-IN" sz="2800"/>
          </a:p>
          <a:p>
            <a:pPr marL="342900" indent="-342900">
              <a:buAutoNum type="arabicPeriod"/>
            </a:pPr>
            <a:r>
              <a:rPr lang="en-IN" sz="2800"/>
              <a:t>Higher Engagement and Interaction</a:t>
            </a:r>
            <a:endParaRPr lang="en-IN" sz="2800"/>
          </a:p>
          <a:p>
            <a:pPr marL="342900" indent="-342900">
              <a:buAutoNum type="arabicPeriod"/>
            </a:pPr>
            <a:r>
              <a:rPr lang="en-IN" sz="2800"/>
              <a:t>Scalable and Automated</a:t>
            </a:r>
            <a:endParaRPr lang="en-IN" sz="2800"/>
          </a:p>
          <a:p>
            <a:pPr marL="342900" indent="-342900">
              <a:buAutoNum type="arabicPeriod"/>
            </a:pPr>
            <a:r>
              <a:rPr lang="en-IN" sz="2800"/>
              <a:t>Improved Assessment and Feedback</a:t>
            </a:r>
            <a:endParaRPr lang="en-IN" sz="2800"/>
          </a:p>
        </p:txBody>
      </p:sp>
      <p:sp>
        <p:nvSpPr>
          <p:cNvPr id="104863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MS PGothic" panose="020B0600070205080204" pitchFamily="1" charset="-128"/>
                <a:cs typeface="+mn-cs"/>
              </a:rPr>
            </a:fld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MS PGothic" panose="020B0600070205080204" pitchFamily="1" charset="-128"/>
              <a:cs typeface="+mn-cs"/>
            </a:endParaRPr>
          </a:p>
        </p:txBody>
      </p:sp>
      <p:sp>
        <p:nvSpPr>
          <p:cNvPr id="104863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2097158" name="Google Shape;93;p2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9803911" y="81376"/>
            <a:ext cx="2246575" cy="1149075"/>
          </a:xfrm>
          <a:prstGeom prst="rect">
            <a:avLst/>
          </a:prstGeom>
          <a:noFill/>
          <a:ln>
            <a:noFill/>
          </a:ln>
        </p:spPr>
      </p:pic>
      <p:sp>
        <p:nvSpPr>
          <p:cNvPr id="1048638" name="Oval 11" descr="Your startup LOGO"/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Tiny coders</a:t>
            </a:r>
            <a:endParaRPr lang="en-I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5" name="Rectangle 9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 panose="020F0502020204030204"/>
              <a:ea typeface="MS PGothic" panose="020B0600070205080204" pitchFamily="1" charset="-128"/>
              <a:cs typeface="+mn-cs"/>
            </a:endParaRPr>
          </a:p>
        </p:txBody>
      </p:sp>
      <p:sp>
        <p:nvSpPr>
          <p:cNvPr id="104861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>
                <a:latin typeface="Times New Roman" panose="02020603050405020304" pitchFamily="18" charset="0"/>
                <a:ea typeface="MS PGothic" panose="020B0600070205080204" pitchFamily="1" charset="-128"/>
                <a:cs typeface="Times New Roman" panose="02020603050405020304" pitchFamily="18" charset="0"/>
              </a:rPr>
              <a:t>RESEARCH  AND REFERENCES</a:t>
            </a:r>
            <a:endParaRPr lang="en-US" sz="3600" b="1">
              <a:latin typeface="Times New Roman" panose="02020603050405020304" pitchFamily="18" charset="0"/>
              <a:ea typeface="MS PGothic" panose="020B0600070205080204" pitchFamily="1" charset="-128"/>
              <a:cs typeface="Times New Roman" panose="02020603050405020304" pitchFamily="18" charset="0"/>
            </a:endParaRPr>
          </a:p>
        </p:txBody>
      </p:sp>
      <p:sp>
        <p:nvSpPr>
          <p:cNvPr id="1048617" name="TextBox 8"/>
          <p:cNvSpPr txBox="1">
            <a:spLocks noChangeArrowheads="1"/>
          </p:cNvSpPr>
          <p:nvPr/>
        </p:nvSpPr>
        <p:spPr bwMode="auto">
          <a:xfrm>
            <a:off x="609600" y="1224374"/>
            <a:ext cx="11137900" cy="4278094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1" charset="-128"/>
                <a:cs typeface="Arial" panose="020B0604020202020204" pitchFamily="34" charset="0"/>
                <a:hlinkClick r:id="rId1"/>
              </a:rPr>
              <a:t>https://scholar.google.com/scholar?hl=en&amp;as_sdt=0%2C5&amp;q=statistical+evaluation+of+video+summarization+models+from+an+empirical+perspective&amp;btnG=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1" charset="-128"/>
              <a:cs typeface="Arial" panose="020B0604020202020204" pitchFamily="34" charset="0"/>
            </a:endParaRP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endParaRPr lang="en-US" sz="16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1" charset="-128"/>
                <a:cs typeface="Arial" panose="020B0604020202020204" pitchFamily="34" charset="0"/>
                <a:hlinkClick r:id="rId2"/>
              </a:rPr>
              <a:t>https://scholar.google.com/scholar?hl=en&amp;as_sdt=0%2C5&amp;q=vidsum-+video+summarisation+using+deep+learning&amp;oq=vidsum-+video+summarisation+using+deep.lesrn</a:t>
            </a:r>
            <a:endParaRPr lang="en-US" sz="16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1" charset="-128"/>
              <a:cs typeface="Arial" panose="020B0604020202020204" pitchFamily="34" charset="0"/>
            </a:endParaRP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  <a:hlinkClick r:id="rId3"/>
              </a:rPr>
              <a:t>https://scholar.google.com/scholar?hl=en&amp;as_sdt=0%2C5&amp;q=multimodal+language+models+for+domain-specific+procedural+video+summarisation+&amp;btnG=</a:t>
            </a:r>
            <a:endParaRPr lang="en-US" sz="16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endParaRPr lang="en-US" sz="16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  <a:hlinkClick r:id="rId4"/>
              </a:rPr>
              <a:t>https://dl.acm.org/doi/abs/10.1145/3652920.3652922</a:t>
            </a:r>
            <a:endParaRPr lang="en-US" sz="16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endParaRPr lang="en-US" sz="16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  <a:hlinkClick r:id="rId5"/>
              </a:rPr>
              <a:t>https://arxiv.org/abs/2404.12353</a:t>
            </a:r>
            <a:endParaRPr lang="en-US" sz="16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endParaRPr lang="en-US" sz="16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  <a:hlinkClick r:id="rId6"/>
              </a:rPr>
              <a:t>https://arxiv.org/abs/2404.04564</a:t>
            </a:r>
            <a:endParaRPr lang="en-US" sz="16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endParaRPr lang="en-US" sz="16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  <a:hlinkClick r:id="rId7"/>
              </a:rPr>
              <a:t>https://link.springer.com/article/10.1007/s11042-023-15829-5</a:t>
            </a:r>
            <a:endParaRPr lang="en-US" sz="16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endParaRPr lang="en-US" sz="16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4861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MS PGothic" panose="020B0600070205080204" pitchFamily="1" charset="-128"/>
                <a:cs typeface="+mn-cs"/>
              </a:rPr>
            </a:fld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MS PGothic" panose="020B0600070205080204" pitchFamily="1" charset="-128"/>
              <a:cs typeface="+mn-cs"/>
            </a:endParaRPr>
          </a:p>
        </p:txBody>
      </p:sp>
      <p:sp>
        <p:nvSpPr>
          <p:cNvPr id="1048619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2097156" name="Google Shape;93;p2"/>
          <p:cNvPicPr preferRelativeResize="0"/>
          <p:nvPr/>
        </p:nvPicPr>
        <p:blipFill rotWithShape="1">
          <a:blip r:embed="rId8"/>
          <a:srcRect/>
          <a:stretch>
            <a:fillRect/>
          </a:stretch>
        </p:blipFill>
        <p:spPr>
          <a:xfrm>
            <a:off x="9803911" y="81376"/>
            <a:ext cx="2246575" cy="1149075"/>
          </a:xfrm>
          <a:prstGeom prst="rect">
            <a:avLst/>
          </a:prstGeom>
          <a:noFill/>
          <a:ln>
            <a:noFill/>
          </a:ln>
        </p:spPr>
      </p:pic>
      <p:sp>
        <p:nvSpPr>
          <p:cNvPr id="1048620" name="Oval 8" descr="Your startup LOGO"/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Tiny coders</a:t>
            </a:r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2" name="Rectangle 9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 panose="020F0502020204030204"/>
              <a:ea typeface="MS PGothic" panose="020B0600070205080204" pitchFamily="1" charset="-128"/>
              <a:cs typeface="+mn-cs"/>
            </a:endParaRPr>
          </a:p>
        </p:txBody>
      </p:sp>
      <p:sp>
        <p:nvSpPr>
          <p:cNvPr id="1048643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MS PGothic" panose="020B0600070205080204" pitchFamily="1" charset="-128"/>
                <a:cs typeface="+mn-cs"/>
              </a:rPr>
            </a:fld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MS PGothic" panose="020B0600070205080204" pitchFamily="1" charset="-128"/>
              <a:cs typeface="+mn-cs"/>
            </a:endParaRPr>
          </a:p>
        </p:txBody>
      </p:sp>
      <p:sp>
        <p:nvSpPr>
          <p:cNvPr id="1048644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2097159" name="Google Shape;93;p2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9803911" y="81376"/>
            <a:ext cx="2246575" cy="1149075"/>
          </a:xfrm>
          <a:prstGeom prst="rect">
            <a:avLst/>
          </a:prstGeom>
          <a:noFill/>
          <a:ln>
            <a:noFill/>
          </a:ln>
        </p:spPr>
      </p:pic>
      <p:sp>
        <p:nvSpPr>
          <p:cNvPr id="1048645" name="Round Diagonal Corner Rectangle 2"/>
          <p:cNvSpPr/>
          <p:nvPr/>
        </p:nvSpPr>
        <p:spPr>
          <a:xfrm>
            <a:off x="0" y="1791032"/>
            <a:ext cx="12192000" cy="4319200"/>
          </a:xfrm>
          <a:prstGeom prst="round2DiagRect">
            <a:avLst/>
          </a:prstGeom>
          <a:solidFill>
            <a:schemeClr val="accent1">
              <a:lumMod val="20000"/>
              <a:lumOff val="80000"/>
            </a:schemeClr>
          </a:solidFill>
          <a:ln w="381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48646" name="Google Shape;100;p3"/>
          <p:cNvSpPr txBox="1"/>
          <p:nvPr/>
        </p:nvSpPr>
        <p:spPr>
          <a:xfrm>
            <a:off x="367832" y="1915454"/>
            <a:ext cx="11764736" cy="40703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marR="0" lvl="0" indent="-51435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 panose="020F0502020204030204"/>
              <a:buAutoNum type="arabicPeriod"/>
            </a:pPr>
            <a:r>
              <a:rPr lang="en-US" b="1" i="0" u="none" strike="noStrike" cap="none">
                <a:solidFill>
                  <a:schemeClr val="dk1"/>
                </a:solidFill>
                <a:latin typeface="Arial" panose="020B0604020202020204" pitchFamily="34" charset="0"/>
                <a:ea typeface="Calibri" panose="020F0502020204030204"/>
                <a:cs typeface="Arial" panose="020B0604020202020204" pitchFamily="34" charset="0"/>
                <a:sym typeface="Calibri" panose="020F0502020204030204"/>
              </a:rPr>
              <a:t>Kindly keep the maximum slides limit up to six </a:t>
            </a:r>
            <a:r>
              <a:rPr lang="en-US" b="1" i="0" u="none" strike="noStrike" cap="none">
                <a:solidFill>
                  <a:srgbClr val="C00000"/>
                </a:solidFill>
                <a:latin typeface="Arial" panose="020B0604020202020204" pitchFamily="34" charset="0"/>
                <a:ea typeface="Calibri" panose="020F0502020204030204"/>
                <a:cs typeface="Arial" panose="020B0604020202020204" pitchFamily="34" charset="0"/>
                <a:sym typeface="Calibri" panose="020F0502020204030204"/>
              </a:rPr>
              <a:t>(6). </a:t>
            </a:r>
            <a:r>
              <a:rPr lang="en-US" b="1" i="0" u="none" strike="noStrike" cap="none">
                <a:solidFill>
                  <a:schemeClr val="dk1"/>
                </a:solidFill>
                <a:latin typeface="Arial" panose="020B0604020202020204" pitchFamily="34" charset="0"/>
                <a:ea typeface="Calibri" panose="020F0502020204030204"/>
                <a:cs typeface="Arial" panose="020B0604020202020204" pitchFamily="34" charset="0"/>
                <a:sym typeface="Calibri" panose="020F0502020204030204"/>
              </a:rPr>
              <a:t>( Including the title slide) </a:t>
            </a:r>
            <a:endParaRPr b="1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 panose="020F0502020204030204"/>
              <a:buAutoNum type="arabicPeriod"/>
            </a:pPr>
            <a:r>
              <a:rPr lang="en-US" b="1" i="0" u="none" strike="noStrike" cap="none">
                <a:solidFill>
                  <a:schemeClr val="dk1"/>
                </a:solidFill>
                <a:latin typeface="Arial" panose="020B0604020202020204" pitchFamily="34" charset="0"/>
                <a:ea typeface="Calibri" panose="020F0502020204030204"/>
                <a:cs typeface="Arial" panose="020B0604020202020204" pitchFamily="34" charset="0"/>
                <a:sym typeface="Calibri" panose="020F0502020204030204"/>
              </a:rPr>
              <a:t>Try to avoid paragraphs and post your idea in points /diagrams / Infographics /pictures </a:t>
            </a:r>
            <a:endParaRPr b="1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 panose="020F0502020204030204"/>
              <a:buAutoNum type="arabicPeriod"/>
            </a:pPr>
            <a:r>
              <a:rPr lang="en-US" b="1" i="0" u="none" strike="noStrike" cap="none">
                <a:solidFill>
                  <a:schemeClr val="dk1"/>
                </a:solidFill>
                <a:latin typeface="Arial" panose="020B0604020202020204" pitchFamily="34" charset="0"/>
                <a:ea typeface="Calibri" panose="020F0502020204030204"/>
                <a:cs typeface="Arial" panose="020B0604020202020204" pitchFamily="34" charset="0"/>
                <a:sym typeface="Calibri" panose="020F0502020204030204"/>
              </a:rPr>
              <a:t>Keep your explanation precise and easy to understand</a:t>
            </a:r>
            <a:endParaRPr b="1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 panose="020F0502020204030204"/>
              <a:buAutoNum type="arabicPeriod"/>
            </a:pPr>
            <a:r>
              <a:rPr lang="en-US" b="1" i="0" u="none" strike="noStrike" cap="none">
                <a:solidFill>
                  <a:schemeClr val="dk1"/>
                </a:solidFill>
                <a:latin typeface="Arial" panose="020B0604020202020204" pitchFamily="34" charset="0"/>
                <a:ea typeface="Calibri" panose="020F0502020204030204"/>
                <a:cs typeface="Arial" panose="020B0604020202020204" pitchFamily="34" charset="0"/>
                <a:sym typeface="Calibri" panose="020F0502020204030204"/>
              </a:rPr>
              <a:t>Idea should be unique and novel. </a:t>
            </a:r>
            <a:endParaRPr b="1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 panose="020F0502020204030204"/>
              <a:buAutoNum type="arabicPeriod"/>
            </a:pPr>
            <a:r>
              <a:rPr lang="en-US" b="1" i="0" u="none" strike="noStrike" cap="none">
                <a:solidFill>
                  <a:schemeClr val="dk1"/>
                </a:solidFill>
                <a:latin typeface="Arial" panose="020B0604020202020204" pitchFamily="34" charset="0"/>
                <a:ea typeface="Calibri" panose="020F0502020204030204"/>
                <a:cs typeface="Arial" panose="020B0604020202020204" pitchFamily="34" charset="0"/>
                <a:sym typeface="Calibri" panose="020F0502020204030204"/>
              </a:rPr>
              <a:t>You can only use provided </a:t>
            </a:r>
            <a:r>
              <a:rPr lang="en-US" b="1">
                <a:solidFill>
                  <a:schemeClr val="dk1"/>
                </a:solidFill>
                <a:latin typeface="Arial" panose="020B0604020202020204" pitchFamily="34" charset="0"/>
                <a:ea typeface="Calibri" panose="020F0502020204030204"/>
                <a:cs typeface="Arial" panose="020B0604020202020204" pitchFamily="34" charset="0"/>
                <a:sym typeface="Calibri" panose="020F0502020204030204"/>
              </a:rPr>
              <a:t>template</a:t>
            </a:r>
            <a:r>
              <a:rPr lang="en-US" b="1" i="0" u="none" strike="noStrike" cap="none">
                <a:solidFill>
                  <a:schemeClr val="dk1"/>
                </a:solidFill>
                <a:latin typeface="Arial" panose="020B0604020202020204" pitchFamily="34" charset="0"/>
                <a:ea typeface="Calibri" panose="020F0502020204030204"/>
                <a:cs typeface="Arial" panose="020B0604020202020204" pitchFamily="34" charset="0"/>
                <a:sym typeface="Calibri" panose="020F0502020204030204"/>
              </a:rPr>
              <a:t> for making the </a:t>
            </a:r>
            <a:r>
              <a:rPr lang="en-US" b="1">
                <a:solidFill>
                  <a:schemeClr val="dk1"/>
                </a:solidFill>
                <a:latin typeface="Arial" panose="020B0604020202020204" pitchFamily="34" charset="0"/>
                <a:ea typeface="Calibri" panose="020F0502020204030204"/>
                <a:cs typeface="Arial" panose="020B0604020202020204" pitchFamily="34" charset="0"/>
                <a:sym typeface="Calibri" panose="020F0502020204030204"/>
              </a:rPr>
              <a:t>PPT</a:t>
            </a:r>
            <a:r>
              <a:rPr lang="en-US" b="1" i="0" u="none" strike="noStrike" cap="none">
                <a:solidFill>
                  <a:schemeClr val="dk1"/>
                </a:solidFill>
                <a:latin typeface="Arial" panose="020B0604020202020204" pitchFamily="34" charset="0"/>
                <a:ea typeface="Calibri" panose="020F0502020204030204"/>
                <a:cs typeface="Arial" panose="020B0604020202020204" pitchFamily="34" charset="0"/>
                <a:sym typeface="Calibri" panose="020F0502020204030204"/>
              </a:rPr>
              <a:t> without changing the idea details pointers (mentioned in previous slides).</a:t>
            </a:r>
            <a:endParaRPr b="1" i="0" u="none" strike="noStrike" cap="none">
              <a:solidFill>
                <a:schemeClr val="dk1"/>
              </a:solidFill>
              <a:latin typeface="Arial" panose="020B0604020202020204" pitchFamily="34" charset="0"/>
              <a:ea typeface="Calibri" panose="020F0502020204030204"/>
              <a:cs typeface="Arial" panose="020B0604020202020204" pitchFamily="34" charset="0"/>
              <a:sym typeface="Calibri" panose="020F0502020204030204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 panose="020F0502020204030204"/>
              <a:buAutoNum type="arabicPeriod"/>
            </a:pPr>
            <a:r>
              <a:rPr lang="en-US" b="1" i="0" u="none" strike="noStrike" cap="none">
                <a:solidFill>
                  <a:schemeClr val="dk1"/>
                </a:solidFill>
                <a:latin typeface="Arial" panose="020B0604020202020204" pitchFamily="34" charset="0"/>
                <a:ea typeface="Calibri" panose="020F0502020204030204"/>
                <a:cs typeface="Arial" panose="020B0604020202020204" pitchFamily="34" charset="0"/>
                <a:sym typeface="Calibri" panose="020F0502020204030204"/>
              </a:rPr>
              <a:t>You need to save the file in PDF and upload the same on portal. No PPT, Word Doc or any other format will be supported.</a:t>
            </a:r>
            <a:endParaRPr b="1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349885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 panose="020F0502020204030204"/>
              <a:buNone/>
            </a:pPr>
            <a:endParaRPr b="1" i="0" u="none" strike="noStrike" cap="none">
              <a:solidFill>
                <a:schemeClr val="dk1"/>
              </a:solidFill>
              <a:latin typeface="Arial" panose="020B0604020202020204" pitchFamily="34" charset="0"/>
              <a:ea typeface="Calibri" panose="020F0502020204030204"/>
              <a:cs typeface="Arial" panose="020B0604020202020204" pitchFamily="34" charset="0"/>
              <a:sym typeface="Calibri" panose="020F0502020204030204"/>
            </a:endParaRPr>
          </a:p>
          <a:p>
            <a:pPr marL="0" marR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 panose="020B0604020202020204"/>
              <a:buNone/>
            </a:pPr>
            <a:r>
              <a:rPr lang="en-US" b="1" i="0" u="none" strike="noStrike" cap="none">
                <a:solidFill>
                  <a:srgbClr val="C00000"/>
                </a:solidFill>
                <a:latin typeface="Arial" panose="020B0604020202020204" pitchFamily="34" charset="0"/>
                <a:ea typeface="Calibri" panose="020F0502020204030204"/>
                <a:cs typeface="Arial" panose="020B0604020202020204" pitchFamily="34" charset="0"/>
                <a:sym typeface="Calibri" panose="020F0502020204030204"/>
              </a:rPr>
              <a:t>Note - You can delete this slide (Important Pointers) when you upload the details of your idea on SIH portal.</a:t>
            </a:r>
            <a:endParaRPr b="1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4400" marR="0" lvl="1" indent="-31623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 panose="020F0502020204030204"/>
              <a:buNone/>
            </a:pPr>
            <a:endParaRPr sz="2000" b="1" i="0" u="none" strike="noStrike" cap="none">
              <a:solidFill>
                <a:schemeClr val="dk1"/>
              </a:solidFill>
              <a:latin typeface="Arial" panose="020B0604020202020204" pitchFamily="34" charset="0"/>
              <a:ea typeface="Calibri" panose="020F0502020204030204"/>
              <a:cs typeface="Arial" panose="020B0604020202020204" pitchFamily="34" charset="0"/>
              <a:sym typeface="Calibri" panose="020F0502020204030204"/>
            </a:endParaRPr>
          </a:p>
        </p:txBody>
      </p:sp>
      <p:sp>
        <p:nvSpPr>
          <p:cNvPr id="1048647" name="TextBox 3"/>
          <p:cNvSpPr txBox="1"/>
          <p:nvPr/>
        </p:nvSpPr>
        <p:spPr>
          <a:xfrm>
            <a:off x="1393371" y="107066"/>
            <a:ext cx="84105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>
                <a:latin typeface="Times New Roman" panose="02020603050405020304" pitchFamily="18" charset="0"/>
                <a:cs typeface="Times New Roman" panose="02020603050405020304" pitchFamily="18" charset="0"/>
              </a:rPr>
              <a:t>IMPORTANT INSTRUCTIONS</a:t>
            </a:r>
            <a:endParaRPr lang="en-IN" sz="36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648" name="TextBox 4"/>
          <p:cNvSpPr txBox="1"/>
          <p:nvPr/>
        </p:nvSpPr>
        <p:spPr>
          <a:xfrm>
            <a:off x="602343" y="1181900"/>
            <a:ext cx="9557657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</a:pPr>
            <a:r>
              <a:rPr lang="en-US" b="1">
                <a:solidFill>
                  <a:schemeClr val="dk1"/>
                </a:solidFill>
                <a:latin typeface="Arial" panose="020B0604020202020204" pitchFamily="34" charset="0"/>
                <a:ea typeface="Calibri" panose="020F0502020204030204"/>
                <a:cs typeface="Arial" panose="020B0604020202020204" pitchFamily="34" charset="0"/>
              </a:rPr>
              <a:t>Please ensure below pointers are met while submitting the Idea PPT:</a:t>
            </a:r>
            <a:endParaRPr lang="en-IN" b="1">
              <a:solidFill>
                <a:schemeClr val="dk1"/>
              </a:solidFill>
              <a:latin typeface="Arial" panose="020B0604020202020204" pitchFamily="34" charset="0"/>
              <a:ea typeface="Calibri" panose="020F0502020204030204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��
</file>

<file path=customXml/item2.xml>��
</file>

<file path=customXml/item3.xml>��
</file>

<file path=customXml/itemProps1.xml><?xml version="1.0" encoding="utf-8"?>
<ds:datastoreItem xmlns:ds="http://schemas.openxmlformats.org/officeDocument/2006/customXml" ds:itemID="{2E541A08-262E-45BF-A960-FDF0F0D35389}">
  <ds:schemaRefs/>
</ds:datastoreItem>
</file>

<file path=customXml/itemProps2.xml><?xml version="1.0" encoding="utf-8"?>
<ds:datastoreItem xmlns:ds="http://schemas.openxmlformats.org/officeDocument/2006/customXml" ds:itemID="{D2B58451-F09A-4187-A9C6-1C172E7F4911}">
  <ds:schemaRefs/>
</ds:datastoreItem>
</file>

<file path=customXml/itemProps3.xml><?xml version="1.0" encoding="utf-8"?>
<ds:datastoreItem xmlns:ds="http://schemas.openxmlformats.org/officeDocument/2006/customXml" ds:itemID="{E242B597-2699-4C46-87C9-7A03E8E8D842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4447</Words>
  <Application>WPS Presentation</Application>
  <PresentationFormat>Widescreen</PresentationFormat>
  <Paragraphs>149</Paragraphs>
  <Slides>7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23" baseType="lpstr">
      <vt:lpstr>Arial</vt:lpstr>
      <vt:lpstr>SimSun</vt:lpstr>
      <vt:lpstr>Wingdings</vt:lpstr>
      <vt:lpstr>Calibri</vt:lpstr>
      <vt:lpstr>MS PGothic</vt:lpstr>
      <vt:lpstr>TradeGothic</vt:lpstr>
      <vt:lpstr>Segoe Print</vt:lpstr>
      <vt:lpstr>TradeGothic</vt:lpstr>
      <vt:lpstr>Arial</vt:lpstr>
      <vt:lpstr>Times New Roman</vt:lpstr>
      <vt:lpstr>Garamond</vt:lpstr>
      <vt:lpstr>Calibri</vt:lpstr>
      <vt:lpstr>Wingdings</vt:lpstr>
      <vt:lpstr>Microsoft YaHei</vt:lpstr>
      <vt:lpstr>Arial Unicode MS</vt:lpstr>
      <vt:lpstr>Office Theme</vt:lpstr>
      <vt:lpstr>SMART INDIA HACKATHON 2024</vt:lpstr>
      <vt:lpstr> IDEA TITLE</vt:lpstr>
      <vt:lpstr>TECHNICAL APPROACH</vt:lpstr>
      <vt:lpstr>FEASIBILITY AND VIABILITY</vt:lpstr>
      <vt:lpstr>IMPACT AND BENEFITS</vt:lpstr>
      <vt:lpstr>RESEARCH  AND REFERENCES</vt:lpstr>
      <vt:lpstr>PowerPoint 演示文稿</vt:lpstr>
    </vt:vector>
  </TitlesOfParts>
  <Company>Crowdfunder, Inc.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creator>Crowdfunder</dc:creator>
  <cp:lastModifiedBy>Mcs</cp:lastModifiedBy>
  <cp:revision>3</cp:revision>
  <dcterms:created xsi:type="dcterms:W3CDTF">2013-12-12T07:46:00Z</dcterms:created>
  <dcterms:modified xsi:type="dcterms:W3CDTF">2024-09-09T08:42:09Z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0x01010053A572E7BC64DC4C884D9F194786D9A8</vt:lpwstr>
  </property>
  <property fmtid="{D5CDD505-2E9C-101B-9397-08002B2CF9AE}" pid="3" name="ICV">
    <vt:lpwstr>B64BD06E19E1402AB0A08218E1A26260_12</vt:lpwstr>
  </property>
  <property fmtid="{D5CDD505-2E9C-101B-9397-08002B2CF9AE}" pid="4" name="KSOProductBuildVer">
    <vt:lpwstr>1033-12.2.0.13472</vt:lpwstr>
  </property>
</Properties>
</file>